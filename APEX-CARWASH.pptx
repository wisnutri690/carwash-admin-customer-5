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3.svg" ContentType="image/svg+xml"/>
  <Override PartName="/ppt/media/image-2-5.svg" ContentType="image/svg+xml"/>
  <Override PartName="/ppt/media/image-7-5.svg" ContentType="image/svg+xml"/>
  <Override PartName="/ppt/media/image-8-2.svg" ContentType="image/svg+xml"/>
  <Override PartName="/ppt/media/image-8-4.svg" ContentType="image/svg+xml"/>
  <Override PartName="/ppt/media/image-8-6.svg" ContentType="image/svg+xml"/>
  <Override PartName="/ppt/media/image-8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62" r:id="rId8"/>
    <p:sldId id="258" r:id="rId4"/>
    <p:sldId id="259" r:id="rId5"/>
    <p:sldId id="260" r:id="rId6"/>
    <p:sldId id="261" r:id="rId7"/>
    <p:sldId id="263" r:id="rId9"/>
    <p:sldId id="264" r:id="rId10"/>
    <p:sldId id="265" r:id="rId30"/>
  </p:sldIdLst>
  <p:notesMasterIdLst>
    <p:notesMasterId r:id="rId11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Poppins SemiBold"/>
      <p:regular r:id="rId201315"/>
    </p:embeddedFont>
    <p:embeddedFont>
      <p:font typeface="Poppins Black"/>
      <p:regular r:id="rId201316"/>
    </p:embeddedFont>
    <p:embeddedFont>
      <p:font typeface="Poppins"/>
      <p:regular r:id="rId201317"/>
    </p:embeddedFont>
    <p:embeddedFont>
      <p:font typeface="Roboto Light"/>
      <p:regular r:id="rId201318"/>
    </p:embeddedFont>
    <p:embeddedFont>
      <p:font typeface="Roboto"/>
      <p:regular r:id="rId201319"/>
    </p:embeddedFont>
    <p:embeddedFont>
      <p:font typeface="Roboto Semi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3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30" Type="http://schemas.openxmlformats.org/officeDocument/2006/relationships/slide" Target="slides/slide10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Relationship Id="rId201326" Type="http://schemas.openxmlformats.org/officeDocument/2006/relationships/font" Target="fonts/201326.fntdata"/><Relationship Id="rId201327" Type="http://schemas.openxmlformats.org/officeDocument/2006/relationships/font" Target="fonts/20132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[PANDUAN PEMBICARA - SLIDE 1: COVER (B2B PITCH)]</a:t>
            </a:r>
          </a:p>
          <a:p>
            <a:r>
              <a:t>• Salam &amp; Pembuka ke Klien (Owner Bengkel):</a:t>
            </a:r>
          </a:p>
          <a:p>
            <a:r>
              <a:t>  "Selamat pagi/siang Bapak/Ibu sekalian. Terima kasih banyak atas waktu dan kesempatannya.</a:t>
            </a:r>
          </a:p>
          <a:p>
            <a:r>
              <a:t>  Perkenalkan, saya Wisnu Tri, Fullstack Application Developer pengembang platform APEX Carwash.</a:t>
            </a:r>
          </a:p>
          <a:p>
            <a:r>
              <a:t>  </a:t>
            </a:r>
          </a:p>
          <a:p>
            <a:r>
              <a:t>  Hari ini saya hadir bukan untuk menawarkan jasa cuci mobil, melainkan menawarkan sebuah solusi transformasi bisnis:</a:t>
            </a:r>
          </a:p>
          <a:p>
            <a:r>
              <a:t>  APEX Carwash Platform — Sistem Manajemen &amp; Ekosistem Digital Terpadu untuk Workshop Cuci &amp; Detailing Premium."</a:t>
            </a:r>
          </a:p>
          <a:p/>
          <a:p>
            <a:r>
              <a:t>• Value Proposition Inti:</a:t>
            </a:r>
          </a:p>
          <a:p>
            <a:r>
              <a:t>  "Platform ini dirancang khusus untuk memodernisasi bengkel Bapak/Ibu: mengotomasi kasir agar 100% bebas bocor, mengatur antrean kerja secara presisi, dan memberikan kendali penuh di smartphone Bapak/Ibu sebagai pemilik usaha."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[PANDUAN PEMBICARA - SLIDE 2: TANTANGAN BISNIS &amp; OPERASIONAL]</a:t>
            </a:r>
          </a:p>
          <a:p>
            <a:r>
              <a:t>• Poin Utama: Menghighlight 3 kebocoran operasional yang membatasi omzet workshop.</a:t>
            </a:r>
          </a:p>
          <a:p/>
          <a:p>
            <a:r>
              <a:t>• Narasi Penyampaian:</a:t>
            </a:r>
          </a:p>
          <a:p>
            <a:r>
              <a:t>  "Sebagai pemilik bisnis perawatan otomotif, tentu Bapak/Ibu sering merasakan kendala nyata ini:</a:t>
            </a:r>
          </a:p>
          <a:p>
            <a:r>
              <a:t>  </a:t>
            </a:r>
          </a:p>
          <a:p>
            <a:r>
              <a:t>  1. Pertama, Operasional Kasir Manual: Penggunaan nota kertas rawan selip atau dimanipulasi. Menghitung komisi teknisi di akhir hari memakan waktu dan rentan salah hitung. Ditambah lagi, tidak adanya rekapitulasi omzet real-time membuka celah kebocoran kas.</a:t>
            </a:r>
          </a:p>
          <a:p>
            <a:r>
              <a:t>  </a:t>
            </a:r>
          </a:p>
          <a:p>
            <a:r>
              <a:t>  2. Kedua, Antrean Semrawut &amp; Koordinasi Staf Lemah: Tanpa sistem antrean FIFO digital terpusat, bay cuci sering macet, pembagian beban kerja teknisi tidak terukur, dan estimasi waktu selesai sering meleset. Akibatnya, pelanggan VIP mengeluh menunggu terlalu lama.</a:t>
            </a:r>
          </a:p>
          <a:p>
            <a:r>
              <a:t>  </a:t>
            </a:r>
          </a:p>
          <a:p>
            <a:r>
              <a:t>  3. Ketiga, Kehilangan Pelanggan &amp; Sulit Repeat Order: Tanpa database riwayat servis kendaraan yang rapi, bengkel kehilangan kontak pelanggan loyal dan melewatkan peluang besar upselling layanan detailing bernilai jutaan rupiah."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[PANDUAN PEMBICARA - SLIDE 4: SOLUSI TERPADU]</a:t>
            </a:r>
          </a:p>
          <a:p>
            <a:r>
              <a:t>• Poin Utama: Menjelaskan bagaimana ekosistem digital melipatgandakan nilai transaksi bengkel.</a:t>
            </a:r>
          </a:p>
          <a:p/>
          <a:p>
            <a:r>
              <a:t>• Narasi Penyampaian:</a:t>
            </a:r>
          </a:p>
          <a:p>
            <a:r>
              <a:t>  "Platform kami menyatukan layanan fisik workshop Bapak/Ibu dengan otomasi teknologi:</a:t>
            </a:r>
          </a:p>
          <a:p>
            <a:r>
              <a:t>  </a:t>
            </a:r>
          </a:p>
          <a:p>
            <a:r>
              <a:t>  1. Menaikkan Nilai Transaksi (Higher Basket Size): Katalog digital kami mengintegrasikan cuci pH-netral dengan paket detailing (poles koreksi cat, nano ceramic 9H, interior leather care). Ini memudahkan kasir menawarkan upgrade paket dengan nilai margin tinggi.</a:t>
            </a:r>
          </a:p>
          <a:p>
            <a:r>
              <a:t>  </a:t>
            </a:r>
          </a:p>
          <a:p>
            <a:r>
              <a:t>  2. Otomasi Antrean Real-Time (Socket.IO): Pelanggan di ruang tunggu dapat memantau status mobilnya langsung di ponsel mereka. Staf kasir tidak lagi diganggu pertanyaan 'kapan mobil saya selesai?'.</a:t>
            </a:r>
          </a:p>
          <a:p>
            <a:r>
              <a:t>  </a:t>
            </a:r>
          </a:p>
          <a:p>
            <a:r>
              <a:t>  3. Proteksi Finansial Kasir Tertutup: Pembayaran tunai, transfer, dan QRIS instan Midtrans diverifikasi otomatis ke sistem."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[PANDUAN PEMBICARA - SLIDE 5: APPLICATION FLOW]</a:t>
            </a:r>
          </a:p>
          <a:p>
            <a:r>
              <a:t>• Poin Utama: Menjelaskan standardisasi alur kerja staf bengkel dari A sampai Z.</a:t>
            </a:r>
          </a:p>
          <a:p/>
          <a:p>
            <a:r>
              <a:t>• Narasi Penyampaian:</a:t>
            </a:r>
          </a:p>
          <a:p>
            <a:r>
              <a:t>  "Mari kita lihat bagaimana sistem ini merampingkan alur kerja tim bengkel Bapak/Ibu:</a:t>
            </a:r>
          </a:p>
          <a:p>
            <a:r>
              <a:t>  </a:t>
            </a:r>
          </a:p>
          <a:p>
            <a:r>
              <a:t>  • Step 1 (Check-in Cepat): Pelanggan datang, kasir memilih unit kendaraan dari garasi digital pelanggan dan menentukan paket servis.</a:t>
            </a:r>
          </a:p>
          <a:p>
            <a:r>
              <a:t>  • Step 2 (Antrean FIFO &amp; Dispatch): Sistem otomatis menerbitkan nomor urut antrean, mengalkulasi estimasi durasi, dan menugaskan staf teknisi.</a:t>
            </a:r>
          </a:p>
          <a:p>
            <a:r>
              <a:t>  • Step 3 (Pengerjaan &amp; Live Update): Teknisi bekerja, status diubah bertahap (Waiting ➔ In Progress ➔ Completed). Status ini otomatis terpancar ke ponsel pelanggan secara real-time.</a:t>
            </a:r>
          </a:p>
          <a:p>
            <a:r>
              <a:t>  • Step 4 (Pembayaran Otomatis): Pelanggan bayar via QRIS Midtrans atau kasir tunai dengan rekonsiliasi otomatis.</a:t>
            </a:r>
          </a:p>
          <a:p>
            <a:r>
              <a:t>  • Step 5 (Invoice &amp; Arsip): Terbit invoice resmi digital dan riwayat servis tersimpan sebagai aset retensi bengkel."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[PANDUAN PEMBICARA - SLIDE 6: NILAI KOMERSIAL BAGI OWNER]</a:t>
            </a:r>
          </a:p>
          <a:p>
            <a:r>
              <a:t>• Poin Utama: Menjelaskan Return on Investment (ROI) dan keunggulan kompetitif bagi klien.</a:t>
            </a:r>
          </a:p>
          <a:p/>
          <a:p>
            <a:r>
              <a:t>• Narasi Penyampaian:</a:t>
            </a:r>
          </a:p>
          <a:p>
            <a:r>
              <a:t>  "Mengapa platform ini adalah investasi terbaik untuk bengkel Bapak/Ibu?</a:t>
            </a:r>
          </a:p>
          <a:p>
            <a:r>
              <a:t>  </a:t>
            </a:r>
          </a:p>
          <a:p>
            <a:r>
              <a:t>  1. Reputasi Kelas Atas di Komunitas: Di era sekarang, pemilik supercar mencari bengkel yang terpercaya. Standar operasional digital membuktikan profesionalisme workshop Bapak/Ibu, menjadikannya rujukan utama komunitas otomotif.</a:t>
            </a:r>
          </a:p>
          <a:p>
            <a:r>
              <a:t>  </a:t>
            </a:r>
          </a:p>
          <a:p>
            <a:r>
              <a:t>  2. Peningkatan Omzet yang Terukur: Rekomendasi bundling servis dan sistem antrean cepat terbukti menaikkan rata-rata nilai belanja dan frekuensi kunjungan per mobil.</a:t>
            </a:r>
          </a:p>
          <a:p>
            <a:r>
              <a:t>  </a:t>
            </a:r>
          </a:p>
          <a:p>
            <a:r>
              <a:t>  3. Bisnis Berjalan Autopilot: Bapak/Ibu tidak perlu seharian berdiri di depan kasir hanya untuk mengawasi staf. Bisnis tetap terpantau akurat dari smartphone Anda."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[PANDUAN PEMBICARA - SLIDE 7: CUSTOMER EXPERIENCE (SENJATA KLIEN)]</a:t>
            </a:r>
          </a:p>
          <a:p>
            <a:r>
              <a:t>• Poin Utama: Menunjukkan portal mandiri pelanggan sebagai senjata workshop memikat pelanggan VIP.</a:t>
            </a:r>
          </a:p>
          <a:p/>
          <a:p>
            <a:r>
              <a:t>• Narasi Penyampaian:</a:t>
            </a:r>
          </a:p>
          <a:p>
            <a:r>
              <a:t>  "Bagaimana platform ini membantu Bapak/Ibu memikat pelanggan VIP?</a:t>
            </a:r>
          </a:p>
          <a:p>
            <a:r>
              <a:t>  </a:t>
            </a:r>
          </a:p>
          <a:p>
            <a:r>
              <a:t>  • Pada Mockup HP Kiri (Garasi Digital): Pelanggan merasa bangga karena koleksi mobil sport mereka tercatat rapi di portal bengkel Bapak/Ibu. Ini menciptakan rasa memiliki (stickiness).</a:t>
            </a:r>
          </a:p>
          <a:p>
            <a:r>
              <a:t>  </a:t>
            </a:r>
          </a:p>
          <a:p>
            <a:r>
              <a:t>  • Pada Mockup HP Kanan (Live Monitoring): Transparansi penuh. Pelanggan melihat kartu order aktif, sisa waktu presisi, dan nama teknisi yang bertugas.</a:t>
            </a:r>
          </a:p>
          <a:p>
            <a:r>
              <a:t>  </a:t>
            </a:r>
          </a:p>
          <a:p>
            <a:r>
              <a:t>  • Dan yang terpenting: Akses Web Tanpa Unduh (Frictionless). Pelanggan tidak perlu repot download aplikasi di Play Store atau App Store. Cukup scan barcode di lounge, langsung terbuka di browser HP mereka."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[PANDUAN PEMBICARA - SLIDE 3: ADMIN COMMAND CENTER]</a:t>
            </a:r>
          </a:p>
          <a:p>
            <a:r>
              <a:t>• Poin Utama: Langsung menunjukkan solusi kendali bisnis di depan mata Owner.</a:t>
            </a:r>
          </a:p>
          <a:p/>
          <a:p>
            <a:r>
              <a:t>• Narasi Penyampaian:</a:t>
            </a:r>
          </a:p>
          <a:p>
            <a:r>
              <a:t>  "Inilah jawaban yang kami bangun untuk mengatasi masalah tersebut: Admin Command Center dengan pendekatan multi-device.</a:t>
            </a:r>
          </a:p>
          <a:p>
            <a:r>
              <a:t>  </a:t>
            </a:r>
          </a:p>
          <a:p>
            <a:r>
              <a:t>  • Di Layar Desktop Monitor (sebelah kiri): Ini adalah dashboard kerja untuk staf kasir Anda. Mulai dari input kendaraan baru dalam hitungan detik, penugasan staf teknisi, pemantauan bay aktif, hingga cetak nota resmi berstandar invoice.</a:t>
            </a:r>
          </a:p>
          <a:p>
            <a:r>
              <a:t>  </a:t>
            </a:r>
          </a:p>
          <a:p>
            <a:r>
              <a:t>  • Di Layar Smartphone Admin (sebelah kanan): Ini adalah senjata utama bagi Bapak/Ibu sebagai Owner. Di mana pun Bapak/Ibu berada — baik di luar kota atau sedang rapat — cukup buka ponsel untuk melihat omzet harian yang masuk, jumlah mobil yang sedang dikerjakan, dan status pembayaran yang sudah lunas.</a:t>
            </a:r>
          </a:p>
          <a:p>
            <a:r>
              <a:t>  </a:t>
            </a:r>
          </a:p>
          <a:p>
            <a:r>
              <a:t>  • Sistem kasir tertutup ini memastikan tidak ada satu rupiah pun dana pengerjaan yang lolos tanpa tercatat."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[PANDUAN PEMBICARA - SLIDE 8: KEUNGGULAN KOMERSIAL &amp; SKALABILITAS]</a:t>
            </a:r>
          </a:p>
          <a:p>
            <a:r>
              <a:t>• Poin Utama: Fondasi jangka panjang untuk membuka cabang dan meningkatkan valuasi usaha.</a:t>
            </a:r>
          </a:p>
          <a:p/>
          <a:p>
            <a:r>
              <a:t>• Narasi Penyampaian:</a:t>
            </a:r>
          </a:p>
          <a:p>
            <a:r>
              <a:t>  "Secara strategis, APEX Carwash meletakkan 4 fondasi utama:</a:t>
            </a:r>
          </a:p>
          <a:p>
            <a:r>
              <a:t>  </a:t>
            </a:r>
          </a:p>
          <a:p>
            <a:r>
              <a:t>  1. SOP Digital Terstandar: Staf bekerja dengan alur terukur, meminimalisir risiko komplain baret atau penanganan ceroboh.</a:t>
            </a:r>
          </a:p>
          <a:p>
            <a:r>
              <a:t>  2. Sinergi Omzet Cuci + Detailing: Menjaga bay pencucian dan ruang detailing tetap produktif setiap hari.</a:t>
            </a:r>
          </a:p>
          <a:p>
            <a:r>
              <a:t>  3. Integritas Finansial 100%: Menutup celah manipulasi kasir dan memastikan seluruh aliran dana tercatat akurat.</a:t>
            </a:r>
          </a:p>
          <a:p>
            <a:r>
              <a:t>  4. Aset Database Komunitas: Database pelanggan dan histori kendaraan mewah menjadi aset berharga bengkel untuk penawaran eksklusif dan program membership."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[PANDUAN PEMBICARA - SLIDE 9: SESI DEMO LIVE]</a:t>
            </a:r>
          </a:p>
          <a:p>
            <a:r>
              <a:t>• Poin Utama: Mengajak klien melihat simulasi pengerjaan secara langsung.</a:t>
            </a:r>
          </a:p>
          <a:p/>
          <a:p>
            <a:r>
              <a:t>• Narasi Penyampaian:</a:t>
            </a:r>
          </a:p>
          <a:p>
            <a:r>
              <a:t>  "Sekarang, mari kita buktikan secara langsung bagaimana alur kerja APEX Carwash beroperasi:</a:t>
            </a:r>
          </a:p>
          <a:p>
            <a:r>
              <a:t>  </a:t>
            </a:r>
          </a:p>
          <a:p>
            <a:r>
              <a:t>  1. Demo Portal Customer: Kita simulasikan registrasi mobil dan live tracking antrean via WebSocket.</a:t>
            </a:r>
          </a:p>
          <a:p>
            <a:r>
              <a:t>  2. Demo Admin Command Center: Kasir menerima order, assign staf teknisi, dan memantau status secara live.</a:t>
            </a:r>
          </a:p>
          <a:p>
            <a:r>
              <a:t>  3. Demo Smart Payment &amp; Invoice: Pembayaran instan via Midtrans Snap QRIS, auto-settlement, dan cetak invoice resmi.</a:t>
            </a:r>
          </a:p>
          <a:p>
            <a:r>
              <a:t>  </a:t>
            </a:r>
          </a:p>
          <a:p>
            <a:r>
              <a:t>  Mari kita saksikan demonya langsung di sistem!"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[PANDUAN PEMBICARA - SLIDE 10: PENUTUP &amp; KEMITRAAN]</a:t>
            </a:r>
          </a:p>
          <a:p>
            <a:r>
              <a:t>• Poin Utama: Menutup presentasi dengan ajakan bermitra dan membuka sesi diskusi.</a:t>
            </a:r>
          </a:p>
          <a:p/>
          <a:p>
            <a:r>
              <a:t>• Narasi Penyampaian:</a:t>
            </a:r>
          </a:p>
          <a:p>
            <a:r>
              <a:t>  "Bapak/Ibu sekalian, era carwash konvensional dengan nota kertas sudah saatnya beralih ke ekosistem digital terintegrasi.</a:t>
            </a:r>
          </a:p>
          <a:p>
            <a:r>
              <a:t>  </a:t>
            </a:r>
          </a:p>
          <a:p>
            <a:r>
              <a:t>  APEX Carwash Platform siap diimplementasikan dan dikustomisasi sesuai alur kerja, tarif servis, dan kebutuhan spesifik workshop Bapak/Ibu.</a:t>
            </a:r>
          </a:p>
          <a:p>
            <a:r>
              <a:t>  </a:t>
            </a:r>
          </a:p>
          <a:p>
            <a:r>
              <a:t>  Terima kasih banyak atas perhatian dan waktu Bapak/Ibu sekalian. Saya membuka sesi tanya jawab dan diskusi kemitraan seluas-luasnya. Mari kita mulai!"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4.png"/><Relationship Id="rId7" Type="http://schemas.openxmlformats.org/officeDocument/2006/relationships/image" Target="../media/image-7-5.svg"/><Relationship Id="rId8" Type="http://schemas.openxmlformats.org/officeDocument/2006/relationships/image" Target="../media/image-7-4.png"/><Relationship Id="rId9" Type="http://schemas.openxmlformats.org/officeDocument/2006/relationships/image" Target="../media/image-7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Relationship Id="rId1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4000" b="1">
                <a:solidFill>
                  <a:srgbClr val="F2F2F3"/>
                </a:solidFill>
                <a:latin typeface="Poppins Light"/>
              </a:defRPr>
            </a:pPr>
            <a:r>
              <a:t>APEX CARWASH PLATFORM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  <a:defRPr sz="1700" b="1">
                <a:solidFill>
                  <a:srgbClr val="C5A880"/>
                </a:solidFill>
                <a:latin typeface="Roboto Light"/>
              </a:defRPr>
            </a:pPr>
            <a:r>
              <a:t>Sistem Manajemen &amp; Ekosistem Digital Terpadu untuk Workshop Cuci &amp; Detailing Premium</a:t>
            </a:r>
            <a:endParaRPr lang="en-US" sz="1450" dirty="0"/>
          </a:p>
          <a:p>
            <a:pPr algn="l" indent="0" marL="0">
              <a:lnSpc>
                <a:spcPct val="133000"/>
              </a:lnSpc>
              <a:spcBef>
                <a:spcPts val="1000"/>
              </a:spcBef>
              <a:buNone/>
              <a:defRPr sz="1300">
                <a:solidFill>
                  <a:srgbClr val="CBCDD4"/>
                </a:solidFill>
                <a:latin typeface="Roboto Light"/>
              </a:defRPr>
            </a:pPr>
            <a:r>
              <a:t>Mentransformasi operasional bengkel menjadi workshop VIP modern: Kendali penuh kasir, pelacakan antrean real-time, dan portal mandiri pelanggan dalam satu ekosistem.</a:t>
            </a:r>
            <a:endParaRPr lang="en-US" sz="1450" dirty="0"/>
          </a:p>
          <a:p>
            <a:pPr>
              <a:spcBef>
                <a:spcPts val="1600"/>
              </a:spcBef>
              <a:defRPr sz="1200" b="1">
                <a:solidFill>
                  <a:srgbClr val="E5E0DF"/>
                </a:solidFill>
                <a:latin typeface="Roboto Light"/>
              </a:defRPr>
            </a:pPr>
            <a:r>
              <a:t>Executive B2B Proposal | Wisnu Tri • Fullstack Application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46596"/>
            <a:ext cx="1280783" cy="264616"/>
          </a:xfrm>
          <a:prstGeom prst="roundRect">
            <a:avLst>
              <a:gd name="adj" fmla="val 22126"/>
            </a:avLst>
          </a:prstGeom>
          <a:solidFill>
            <a:srgbClr val="252528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337835" y="598785"/>
            <a:ext cx="1681418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  <a:defRPr sz="1100">
                <a:solidFill>
                  <a:srgbClr val="E5E0DF"/>
                </a:solidFill>
                <a:latin typeface="Roboto Light"/>
              </a:defRPr>
            </a:pPr>
            <a:r>
              <a:t>01 • TANTANGAN BISNIS &amp; OPERASIONAL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3360" y="800000"/>
            <a:ext cx="629686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  <a:defRPr sz="2600" b="1">
                <a:solidFill>
                  <a:srgbClr val="F2F2F3"/>
                </a:solidFill>
                <a:latin typeface="Poppins Light"/>
              </a:defRPr>
            </a:pPr>
            <a:r>
              <a:t>Kendala Operasional yang Membatasi Pertumbuhan Bengkel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233360" y="1650000"/>
            <a:ext cx="6906444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  <a:defRPr sz="1300">
                <a:solidFill>
                  <a:srgbClr val="E5E0DF"/>
                </a:solidFill>
                <a:latin typeface="Roboto Light"/>
              </a:defRPr>
            </a:pPr>
            <a:r>
              <a:t>Tiga kebocoran utama yang sering tidak disadari oleh pemilik usaha carwash konvensional.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250000"/>
            <a:ext cx="6296860" cy="1250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02832" y="2400000"/>
            <a:ext cx="5834115" cy="32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1600" b="1">
                <a:solidFill>
                  <a:srgbClr val="F2F2F3"/>
                </a:solidFill>
                <a:latin typeface="Poppins Light"/>
              </a:defRPr>
            </a:pPr>
            <a:r>
              <a:t>Operasional Kasir Manual &amp; Rawan Bocor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502832" y="2750000"/>
            <a:ext cx="570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  <a:defRPr sz="1150">
                <a:solidFill>
                  <a:srgbClr val="CBCDD4"/>
                </a:solidFill>
                <a:latin typeface="Roboto Light"/>
              </a:defRPr>
            </a:pPr>
            <a:r>
              <a:t>Nota kertas rawan selisih dan manipulasi, komisi staf teknisi dihitung manual sehingga rentan keliru, serta tidak adanya rekapitulasi omzet digital harian secara otomatis.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650000"/>
            <a:ext cx="6296860" cy="1250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02832" y="3800000"/>
            <a:ext cx="5834115" cy="32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1600" b="1">
                <a:solidFill>
                  <a:srgbClr val="F2F2F3"/>
                </a:solidFill>
                <a:latin typeface="Poppins Light"/>
              </a:defRPr>
            </a:pPr>
            <a:r>
              <a:t>Antrean Semrawut &amp; Koordinasi Staf Lemah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5502832" y="4150000"/>
            <a:ext cx="570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  <a:defRPr sz="1150">
                <a:solidFill>
                  <a:srgbClr val="CBCDD4"/>
                </a:solidFill>
                <a:latin typeface="Roboto Light"/>
              </a:defRPr>
            </a:pPr>
            <a:r>
              <a:t>Tanpa sistem antrean FIFO terpusat, pembagian tugas teknisi tidak terukur, estimasi waktu sering meleset, menyebabkan bay macet dan pelanggan mengeluh menunggu lama.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050000"/>
            <a:ext cx="6296860" cy="1250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02832" y="5200000"/>
            <a:ext cx="5834115" cy="32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1600" b="1">
                <a:solidFill>
                  <a:srgbClr val="F2F2F3"/>
                </a:solidFill>
                <a:latin typeface="Poppins Light"/>
              </a:defRPr>
            </a:pPr>
            <a:r>
              <a:t>Kehilangan Pelanggan VIP &amp; Sulit Retensi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5502832" y="5550000"/>
            <a:ext cx="57000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  <a:defRPr sz="1150">
                <a:solidFill>
                  <a:srgbClr val="CBCDD4"/>
                </a:solidFill>
                <a:latin typeface="Roboto Light"/>
              </a:defRPr>
            </a:pPr>
            <a:r>
              <a:t>Ketiadaan database digital dan histori servis membuat bengkel kehilangan kontak pelanggan setia, melewatkan peluang besar upselling paket detailing berkala bernilai tinggi.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7850"/>
            <a:ext cx="2201411" cy="264616"/>
          </a:xfrm>
          <a:prstGeom prst="roundRect">
            <a:avLst>
              <a:gd name="adj" fmla="val 22126"/>
            </a:avLst>
          </a:prstGeom>
          <a:solidFill>
            <a:srgbClr val="25252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5950" y="630039"/>
            <a:ext cx="2602046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  <a:defRPr sz="1100">
                <a:solidFill>
                  <a:srgbClr val="E5E0DF"/>
                </a:solidFill>
                <a:latin typeface="Roboto Light"/>
              </a:defRPr>
            </a:pPr>
            <a:r>
              <a:t>02 • ADMIN COMMAND CENTER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00000"/>
            <a:ext cx="10800000" cy="55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2800" b="1">
                <a:solidFill>
                  <a:srgbClr val="F2F2F3"/>
                </a:solidFill>
                <a:latin typeface="Poppins Light"/>
              </a:defRPr>
            </a:pPr>
            <a:r>
              <a:t>Kendali Penuh Operasional &amp; Finansial Workshop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380000"/>
            <a:ext cx="10800000" cy="35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  <a:defRPr sz="1300">
                <a:solidFill>
                  <a:srgbClr val="E5E0DF"/>
                </a:solidFill>
                <a:latin typeface="Roboto Light"/>
              </a:defRPr>
            </a:pPr>
            <a:r>
              <a:t>Sistem kontrol multi-device: Kelola operasional dari desktop kasir dan pantau omzet dari smartphone pemilik.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661475" y="2100000"/>
            <a:ext cx="46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1500" b="1">
                <a:solidFill>
                  <a:srgbClr val="C5A880"/>
                </a:solidFill>
                <a:latin typeface="Poppins Light"/>
              </a:defRPr>
            </a:pPr>
            <a:r>
              <a:t>• Desktop Admin Kasir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661475" y="2430000"/>
            <a:ext cx="4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  <a:defRPr sz="1150">
                <a:solidFill>
                  <a:srgbClr val="CBCDD4"/>
                </a:solidFill>
                <a:latin typeface="Roboto Light"/>
              </a:defRPr>
            </a:pPr>
            <a:r>
              <a:t>Dashboard kasir terpusat untuk kelola antrean pengerjaan, penugasan teknisi, input order cepat, dan cetak invoice resmi.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661475" y="3300000"/>
            <a:ext cx="46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1500" b="1">
                <a:solidFill>
                  <a:srgbClr val="C5A880"/>
                </a:solidFill>
                <a:latin typeface="Poppins Light"/>
              </a:defRPr>
            </a:pPr>
            <a:r>
              <a:t>• Owner Mobile Dashboard</a:t>
            </a:r>
            <a:endParaRPr lang="en-US" sz="1700" dirty="0"/>
          </a:p>
        </p:txBody>
      </p:sp>
      <p:sp>
        <p:nvSpPr>
          <p:cNvPr id="14" name="Text 7"/>
          <p:cNvSpPr/>
          <p:nvPr/>
        </p:nvSpPr>
        <p:spPr>
          <a:xfrm>
            <a:off x="661475" y="3630000"/>
            <a:ext cx="4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  <a:defRPr sz="1150">
                <a:solidFill>
                  <a:srgbClr val="CBCDD4"/>
                </a:solidFill>
                <a:latin typeface="Roboto Light"/>
              </a:defRPr>
            </a:pPr>
            <a:r>
              <a:t>Kemudahan bagi owner memantau omzet harian live, transaksi lunas, dan performa tim teknisi langsung dari smartphone di mana saja.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661475" y="4500000"/>
            <a:ext cx="4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  <a:defRPr sz="1500" b="1">
                <a:solidFill>
                  <a:srgbClr val="C5A880"/>
                </a:solidFill>
                <a:latin typeface="Poppins Light"/>
              </a:defRPr>
            </a:pPr>
            <a:r>
              <a:t>• Customer &amp; Vehicle Database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661475" y="4830000"/>
            <a:ext cx="46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  <a:defRPr sz="1150">
                <a:solidFill>
                  <a:srgbClr val="CBCDD4"/>
                </a:solidFill>
                <a:latin typeface="Roboto Light"/>
              </a:defRPr>
            </a:pPr>
            <a:r>
              <a:t>Database terpadu seluruh pelanggan VIP dan armada kendaraannya untuk memudahkan follow-up dan penawaran berkala.</a:t>
            </a:r>
            <a:endParaRPr lang="en-US" sz="1350" dirty="0"/>
          </a:p>
        </p:txBody>
      </p:sp>
      <p:pic>
        <p:nvPicPr>
          <p:cNvPr id="18" name="Picture 17" descr="admin_devices_mocku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0000" y="1850000"/>
            <a:ext cx="5950000" cy="463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00870"/>
            <a:ext cx="1013891" cy="287139"/>
          </a:xfrm>
          <a:prstGeom prst="roundRect">
            <a:avLst>
              <a:gd name="adj" fmla="val 22118"/>
            </a:avLst>
          </a:prstGeom>
          <a:solidFill>
            <a:srgbClr val="25252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4879" y="1457523"/>
            <a:ext cx="139666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  <a:defRPr>
                <a:solidFill>
                  <a:srgbClr val="E5E0DF"/>
                </a:solidFill>
              </a:defRPr>
            </a:pPr>
            <a:r>
              <a:t>03 • SOLUSI TERPADU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636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3200" b="1">
                <a:solidFill>
                  <a:srgbClr val="F2F2F3"/>
                </a:solidFill>
                <a:latin typeface="Poppins Light"/>
              </a:defRPr>
            </a:pPr>
            <a:r>
              <a:t>Ekosistem Digital Carwash &amp; Detailing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6377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  <a:defRPr>
                <a:solidFill>
                  <a:srgbClr val="E5E0DF"/>
                </a:solidFill>
              </a:defRPr>
            </a:pPr>
            <a:r>
              <a:t>Menyatukan layanan fisik bengkel Anda dengan teknologi digital untuk melipatgandakan efisiensi dan omzet.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050000"/>
            <a:ext cx="3496877" cy="2500000"/>
          </a:xfrm>
          <a:prstGeom prst="roundRect">
            <a:avLst>
              <a:gd name="adj" fmla="val 34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6832" y="3200000"/>
            <a:ext cx="310616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  <a:defRPr b="1" sz="1500">
                <a:solidFill>
                  <a:srgbClr val="F2F2F3"/>
                </a:solidFill>
              </a:defRPr>
            </a:pPr>
            <a:r>
              <a:t>Menaikkan Nilai Transaksi (Basket Size)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6832" y="3800000"/>
            <a:ext cx="3106164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  <a:defRPr sz="1150">
                <a:solidFill>
                  <a:srgbClr val="CBCDD4"/>
                </a:solidFill>
              </a:defRPr>
            </a:pPr>
            <a:r>
              <a:t>Menyatukan katalog cuci kilat pH-netral dan paket detailing (poles 3-step, nano coating 9H) dalam satu sistem, mendorong kenaikan nilai belanja di bengkel Anda.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050000"/>
            <a:ext cx="3496877" cy="2500000"/>
          </a:xfrm>
          <a:prstGeom prst="roundRect">
            <a:avLst>
              <a:gd name="adj" fmla="val 34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42716" y="3200000"/>
            <a:ext cx="310616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  <a:defRPr b="1" sz="1500">
                <a:solidFill>
                  <a:srgbClr val="F2F2F3"/>
                </a:solidFill>
              </a:defRPr>
            </a:pPr>
            <a:r>
              <a:t>Otomasi Antrean Real-Time (Socket.IO)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542716" y="3800000"/>
            <a:ext cx="3106164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  <a:defRPr sz="1150">
                <a:solidFill>
                  <a:srgbClr val="CBCDD4"/>
                </a:solidFill>
              </a:defRPr>
            </a:pPr>
            <a:r>
              <a:t>Pelanggan memantau progres mobil di lounge via smartphone, meniadakan beban staf kasir menjawab pertanyaan berulang mengenai durasi waktu tunggu.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3050000"/>
            <a:ext cx="3496877" cy="2500000"/>
          </a:xfrm>
          <a:prstGeom prst="roundRect">
            <a:avLst>
              <a:gd name="adj" fmla="val 344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8600" y="3200000"/>
            <a:ext cx="3106164" cy="5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b="1" sz="1500">
                <a:solidFill>
                  <a:srgbClr val="F2F2F3"/>
                </a:solidFill>
              </a:defRPr>
            </a:pPr>
            <a:r>
              <a:t>Sistem Kasir Tertutup &amp; Anti-Bocor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28600" y="3800000"/>
            <a:ext cx="3106164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  <a:defRPr sz="1150">
                <a:solidFill>
                  <a:srgbClr val="CBCDD4"/>
                </a:solidFill>
              </a:defRPr>
            </a:pPr>
            <a:r>
              <a:t>Pembukuan otomatis dengan integrasi kasir tunai, transfer, dan QRIS instan Midtrans yang tervalidasi langsung ke database tanpa celah kecurangan.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9041"/>
            <a:ext cx="1875287" cy="287139"/>
          </a:xfrm>
          <a:prstGeom prst="roundRect">
            <a:avLst>
              <a:gd name="adj" fmla="val 22118"/>
            </a:avLst>
          </a:prstGeom>
          <a:solidFill>
            <a:srgbClr val="25252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4879" y="635695"/>
            <a:ext cx="22580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  <a:defRPr>
                <a:solidFill>
                  <a:srgbClr val="E5E0DF"/>
                </a:solidFill>
              </a:defRPr>
            </a:pPr>
            <a:r>
              <a:t>04 • APPLICATION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417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3200" b="1">
                <a:solidFill>
                  <a:srgbClr val="F2F2F3"/>
                </a:solidFill>
                <a:latin typeface="Poppins Light"/>
              </a:defRPr>
            </a:pPr>
            <a:r>
              <a:t>Alur Kerja Terstandar untuk Staf Bengkel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159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  <a:defRPr>
                <a:solidFill>
                  <a:srgbClr val="E5E0DF"/>
                </a:solidFill>
              </a:defRPr>
            </a:pPr>
            <a:r>
              <a:t>Standardisasi proses operasional dari kendaraan masuk, pengerjaan teknisi, hingga dana masuk ke rekening bengkel.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2330946"/>
            <a:ext cx="10520595" cy="39479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36045" y="53204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Invoice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336215" y="53204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Pembayaran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347253" y="53204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Pengerjaan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358291" y="53204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Antrian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325854" y="53204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Check-in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324"/>
            <a:ext cx="2123923" cy="269180"/>
          </a:xfrm>
          <a:prstGeom prst="roundRect">
            <a:avLst>
              <a:gd name="adj" fmla="val 22119"/>
            </a:avLst>
          </a:prstGeom>
          <a:solidFill>
            <a:srgbClr val="25252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7735" y="583406"/>
            <a:ext cx="2520986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  <a:defRPr>
                <a:solidFill>
                  <a:srgbClr val="E5E0DF"/>
                </a:solidFill>
              </a:defRPr>
            </a:pPr>
            <a:r>
              <a:t>05 • NILAI KOMERSIAL BAGI OWNER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65882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3200" b="1">
                <a:solidFill>
                  <a:srgbClr val="F2F2F3"/>
                </a:solidFill>
                <a:latin typeface="Poppins Light"/>
              </a:defRPr>
            </a:pPr>
            <a:r>
              <a:t>Investasi Teknologi yang Menghasilkan ROI Nyata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668760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  <a:defRPr>
                <a:solidFill>
                  <a:srgbClr val="E5E0DF"/>
                </a:solidFill>
              </a:defRPr>
            </a:pPr>
            <a:r>
              <a:t>Mengubah bengkel carwash biasa menjadi bisnis autopilot bernilai tinggi dan berdaya saing kuat.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90205"/>
            <a:ext cx="5783316" cy="32772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83327" y="2300000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448066" y="2350000"/>
            <a:ext cx="4088405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b="1" sz="1500">
                <a:solidFill>
                  <a:srgbClr val="F2F2F3"/>
                </a:solidFill>
              </a:defRPr>
            </a:pPr>
            <a:r>
              <a:t>Reputasi Kelas Atas di Komunitas Mobil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48066" y="2700000"/>
            <a:ext cx="4088405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  <a:defRPr sz="1150">
                <a:solidFill>
                  <a:srgbClr val="CBCDD4"/>
                </a:solidFill>
              </a:defRPr>
            </a:pPr>
            <a:r>
              <a:t>Standarisasi SOP digital membangun rasa aman bagi pemilik mobil sport, menjadikan bengkel Anda rujukan utama komunitas otomotif.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883327" y="3600000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48066" y="3650000"/>
            <a:ext cx="4088405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b="1" sz="1500">
                <a:solidFill>
                  <a:srgbClr val="F2F2F3"/>
                </a:solidFill>
              </a:defRPr>
            </a:pPr>
            <a:r>
              <a:t>Peningkatan Omzet yang Terukur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448066" y="4000000"/>
            <a:ext cx="4088405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  <a:defRPr sz="1150">
                <a:solidFill>
                  <a:srgbClr val="CBCDD4"/>
                </a:solidFill>
              </a:defRPr>
            </a:pPr>
            <a:r>
              <a:t>Fitur katalog paket terintegrasi mendorong kenaikan rata-rata nilai transaksi per kendaraan secara konsisten dan terukur.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883327" y="4900000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448066" y="4950000"/>
            <a:ext cx="4088405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b="1" sz="1500">
                <a:solidFill>
                  <a:srgbClr val="F2F2F3"/>
                </a:solidFill>
              </a:defRPr>
            </a:pPr>
            <a:r>
              <a:t>Bisnis Berjalan Tanpa Ketergantungan Kehadiran Owner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48066" y="5300000"/>
            <a:ext cx="4088405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  <a:defRPr sz="1150">
                <a:solidFill>
                  <a:srgbClr val="CBCDD4"/>
                </a:solidFill>
              </a:defRPr>
            </a:pPr>
            <a:r>
              <a:t>Owner memiliki kebebasan penuh memantau omzet, performa teknisi, dan laporan keuangan real-time dari mana saja.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7850"/>
            <a:ext cx="2201411" cy="264616"/>
          </a:xfrm>
          <a:prstGeom prst="roundRect">
            <a:avLst>
              <a:gd name="adj" fmla="val 22118"/>
            </a:avLst>
          </a:prstGeom>
          <a:solidFill>
            <a:srgbClr val="25252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5950" y="630039"/>
            <a:ext cx="2602046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  <a:defRPr>
                <a:solidFill>
                  <a:srgbClr val="E5E0DF"/>
                </a:solidFill>
              </a:defRPr>
            </a:pPr>
            <a:r>
              <a:t>06 • CUSTOMER EXPERIENCE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00000"/>
            <a:ext cx="5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2600" b="1">
                <a:solidFill>
                  <a:srgbClr val="F2F2F3"/>
                </a:solidFill>
                <a:latin typeface="Poppins Light"/>
              </a:defRPr>
            </a:pPr>
            <a:r>
              <a:t>Senjata Digital Anda Memikat Pelanggan VIP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750000"/>
            <a:ext cx="5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  <a:defRPr sz="1300">
                <a:solidFill>
                  <a:srgbClr val="E5E0DF"/>
                </a:solidFill>
                <a:latin typeface="Roboto Light"/>
              </a:defRPr>
            </a:pPr>
            <a:r>
              <a:t>Berikan layanan berkelas modern tanpa membebani pelanggan mengunduh aplikasi.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61475" y="2350000"/>
            <a:ext cx="50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  <a:defRPr b="1" sz="1500">
                <a:solidFill>
                  <a:srgbClr val="C5A880"/>
                </a:solidFill>
                <a:latin typeface="Poppins Light"/>
              </a:defRPr>
            </a:pPr>
            <a:r>
              <a:t>• Garasi Digital (Database Aset)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  <a:defRPr sz="1150">
                <a:solidFill>
                  <a:srgbClr val="CBCDD4"/>
                </a:solidFill>
                <a:latin typeface="Roboto Light"/>
              </a:defRPr>
            </a:pPr>
            <a:r>
              <a:t>Bengkel Anda memiliki profil lengkap armada mobil pelanggan untuk program retensi dan penawaran servis berkala.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61475" y="3500000"/>
            <a:ext cx="50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  <a:defRPr b="1" sz="1500">
                <a:solidFill>
                  <a:srgbClr val="C5A880"/>
                </a:solidFill>
                <a:latin typeface="Poppins Light"/>
              </a:defRPr>
            </a:pPr>
            <a:r>
              <a:t>• Live Tracking Real-Time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  <a:defRPr sz="1150">
                <a:solidFill>
                  <a:srgbClr val="CBCDD4"/>
                </a:solidFill>
                <a:latin typeface="Roboto Light"/>
              </a:defRPr>
            </a:pPr>
            <a:r>
              <a:t>Pelanggan melihat sisa estimasi menit secara live di smartphone, mengurangi komplain dan beban staf kasir.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61475" y="4650000"/>
            <a:ext cx="50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  <a:defRPr b="1" sz="1500">
                <a:solidFill>
                  <a:srgbClr val="C5A880"/>
                </a:solidFill>
                <a:latin typeface="Poppins Light"/>
              </a:defRPr>
            </a:pPr>
            <a:r>
              <a:t>• Akses Web Frictionless (Tanpa Unduh)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  <a:defRPr sz="1150">
                <a:solidFill>
                  <a:srgbClr val="CBCDD4"/>
                </a:solidFill>
                <a:latin typeface="Roboto Light"/>
              </a:defRPr>
            </a:pPr>
            <a:r>
              <a:t>Cukup scan QR code di meja lounge, langsung terbuka di browser smartphone sehingga 100% langsung teradopsi.</a:t>
            </a:r>
            <a:endParaRPr lang="en-US" sz="1450" dirty="0"/>
          </a:p>
        </p:txBody>
      </p:sp>
      <p:pic>
        <p:nvPicPr>
          <p:cNvPr id="11" name="Picture 10" descr="cust_phones_mo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000" y="1050000"/>
            <a:ext cx="5700000" cy="5280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327"/>
            <a:ext cx="1866357" cy="269180"/>
          </a:xfrm>
          <a:prstGeom prst="roundRect">
            <a:avLst>
              <a:gd name="adj" fmla="val 22119"/>
            </a:avLst>
          </a:prstGeom>
          <a:solidFill>
            <a:srgbClr val="25252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7735" y="608409"/>
            <a:ext cx="2263421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  <a:defRPr>
                <a:solidFill>
                  <a:srgbClr val="E5E0DF"/>
                </a:solidFill>
              </a:defRPr>
            </a:pPr>
            <a:r>
              <a:t>07 • KEUNGGULAN KOMERSIAL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9088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3200" b="1">
                <a:solidFill>
                  <a:srgbClr val="F2F2F3"/>
                </a:solidFill>
                <a:latin typeface="Poppins Light"/>
              </a:defRPr>
            </a:pPr>
            <a:r>
              <a:t>Fondasi Skalabilitas &amp; Efisiensi Operasional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693763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  <a:defRPr>
                <a:solidFill>
                  <a:srgbClr val="E5E0DF"/>
                </a:solidFill>
              </a:defRPr>
            </a:pPr>
            <a:r>
              <a:t>Empat pilar sistemik yang membedakan bisnis Anda dari kompetitor carwash konvensional.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2155230"/>
            <a:ext cx="3512157" cy="2265263"/>
          </a:xfrm>
          <a:prstGeom prst="roundRect">
            <a:avLst>
              <a:gd name="adj" fmla="val 328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45025" y="2338784"/>
            <a:ext cx="531601" cy="531614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171" y="2484934"/>
            <a:ext cx="239210" cy="239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025" y="3036491"/>
            <a:ext cx="314505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b="1">
                <a:solidFill>
                  <a:srgbClr val="F2F2F3"/>
                </a:solidFill>
              </a:defRPr>
            </a:pPr>
            <a:r>
              <a:t>SOP Kerja Terstandarisasi Digital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5025" y="3413026"/>
            <a:ext cx="314505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  <a:defRPr sz="1100">
                <a:solidFill>
                  <a:srgbClr val="CBCDD4"/>
                </a:solidFill>
              </a:defRPr>
            </a:pPr>
            <a:r>
              <a:t>Memastikan seluruh alur penanganan kendaraan sport terlacak presisi, meminimalisir risiko kesalahan staf.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9720" y="2155230"/>
            <a:ext cx="3512157" cy="2265263"/>
          </a:xfrm>
          <a:prstGeom prst="roundRect">
            <a:avLst>
              <a:gd name="adj" fmla="val 328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23270" y="2338784"/>
            <a:ext cx="531601" cy="531614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15" y="2484934"/>
            <a:ext cx="239210" cy="239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3270" y="3036491"/>
            <a:ext cx="314505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b="1">
                <a:solidFill>
                  <a:srgbClr val="F2F2F3"/>
                </a:solidFill>
              </a:defRPr>
            </a:pPr>
            <a:r>
              <a:t>Sinergi Omzet Cuci + Detailing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23270" y="3413026"/>
            <a:ext cx="314505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  <a:defRPr sz="1100">
                <a:solidFill>
                  <a:srgbClr val="CBCDD4"/>
                </a:solidFill>
              </a:defRPr>
            </a:pPr>
            <a:r>
              <a:t>Mengonversi pelanggan cuci kilat menjadi pelanggan paket detailing berkala bernilai tinggi.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17964" y="2155230"/>
            <a:ext cx="3512157" cy="2265263"/>
          </a:xfrm>
          <a:prstGeom prst="roundRect">
            <a:avLst>
              <a:gd name="adj" fmla="val 328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201514" y="2338784"/>
            <a:ext cx="531601" cy="531614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7660" y="2484934"/>
            <a:ext cx="239210" cy="239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01514" y="3036491"/>
            <a:ext cx="314505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b="1">
                <a:solidFill>
                  <a:srgbClr val="F2F2F3"/>
                </a:solidFill>
              </a:defRPr>
            </a:pPr>
            <a:r>
              <a:t>Integritas Finansial Kasir 100%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201514" y="3413026"/>
            <a:ext cx="314505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  <a:defRPr sz="1100">
                <a:solidFill>
                  <a:srgbClr val="CBCDD4"/>
                </a:solidFill>
              </a:defRPr>
            </a:pPr>
            <a:r>
              <a:t>Seluruh mutasi dana kasir dan komisi teknisi terekam otomatis, menutup celah kebocoran.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61475" y="4586585"/>
            <a:ext cx="10868646" cy="1715988"/>
          </a:xfrm>
          <a:prstGeom prst="roundRect">
            <a:avLst>
              <a:gd name="adj" fmla="val 43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845025" y="4770140"/>
            <a:ext cx="531601" cy="531614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1171" y="4916289"/>
            <a:ext cx="239210" cy="2392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5025" y="5467846"/>
            <a:ext cx="1050154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b="1">
                <a:solidFill>
                  <a:srgbClr val="F2F2F3"/>
                </a:solidFill>
              </a:defRPr>
            </a:pPr>
            <a:r>
              <a:t>Aset Database Komunitas Mobil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45025" y="5844381"/>
            <a:ext cx="10501546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  <a:defRPr sz="1150">
                <a:solidFill>
                  <a:srgbClr val="CBCDD4"/>
                </a:solidFill>
              </a:defRPr>
            </a:pPr>
            <a:r>
              <a:t>Database kendaraan mewah menjadi aset berharga bengkel untuk penawaran program membership eksklusif.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5072"/>
            <a:ext cx="1211728" cy="273645"/>
          </a:xfrm>
          <a:prstGeom prst="roundRect">
            <a:avLst>
              <a:gd name="adj" fmla="val 22121"/>
            </a:avLst>
          </a:prstGeom>
          <a:solidFill>
            <a:srgbClr val="25252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65950" y="620000"/>
            <a:ext cx="160522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  <a:defRPr sz="1100">
                <a:solidFill>
                  <a:srgbClr val="E5E0DF"/>
                </a:solidFill>
                <a:latin typeface="Roboto Light"/>
              </a:defRPr>
            </a:pPr>
            <a:r>
              <a:t>08 •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1737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  <a:defRPr sz="3500" b="1">
                <a:solidFill>
                  <a:srgbClr val="F2F2F3"/>
                </a:solidFill>
                <a:latin typeface="Poppins Light"/>
              </a:defRPr>
            </a:pPr>
            <a:r>
              <a:t>Sesi Demonstrasi Langsung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60000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  <a:defRPr sz="1400">
                <a:solidFill>
                  <a:srgbClr val="E5E0DF"/>
                </a:solidFill>
                <a:latin typeface="Roboto Light"/>
              </a:defRPr>
            </a:pPr>
            <a:r>
              <a:t>Simulasi menyeluruh alur pengerjaan dan integrasi sistem APEX Carwash secara real-time.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31641" y="5650000"/>
            <a:ext cx="11208164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Wisnu Tri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• Fullstack Application Developer • APEX Carwash Platform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61475" y="5600000"/>
            <a:ext cx="25399" cy="667841"/>
          </a:xfrm>
          <a:prstGeom prst="roundRect">
            <a:avLst>
              <a:gd name="adj" fmla="val 50001"/>
            </a:avLst>
          </a:prstGeom>
          <a:solidFill>
            <a:srgbClr val="F2F2F3"/>
          </a:solidFill>
          <a:ln/>
        </p:spPr>
        <p:txBody>
          <a:bodyPr/>
          <a:p/>
        </p:txBody>
      </p:sp>
      <p:sp>
        <p:nvSpPr>
          <p:cNvPr id="15" name="Rounded Rectangle 14"/>
          <p:cNvSpPr/>
          <p:nvPr/>
        </p:nvSpPr>
        <p:spPr>
          <a:xfrm>
            <a:off x="661475" y="2300000"/>
            <a:ext cx="3496877" cy="2900000"/>
          </a:xfrm>
          <a:prstGeom prst="roundRect">
            <a:avLst/>
          </a:prstGeom>
          <a:solidFill>
            <a:srgbClr val="1F2024"/>
          </a:solidFill>
          <a:ln w="12700">
            <a:solidFill>
              <a:srgbClr val="3E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C5A880"/>
                </a:solidFill>
                <a:latin typeface="Roboto Light"/>
              </a:defRPr>
            </a:pPr>
            <a:r>
              <a:t>DEMO 01</a:t>
            </a:r>
          </a:p>
          <a:p>
            <a:pPr>
              <a:spcBef>
                <a:spcPts val="600"/>
              </a:spcBef>
              <a:defRPr sz="1600" b="1">
                <a:solidFill>
                  <a:srgbClr val="F2F2F3"/>
                </a:solidFill>
                <a:latin typeface="Poppins Light"/>
              </a:defRPr>
            </a:pPr>
            <a:r>
              <a:t>Portal Mandiri Customer</a:t>
            </a:r>
          </a:p>
          <a:p>
            <a:pPr>
              <a:spcBef>
                <a:spcPts val="1200"/>
              </a:spcBef>
              <a:defRPr sz="1150">
                <a:solidFill>
                  <a:srgbClr val="CBCDD4"/>
                </a:solidFill>
                <a:latin typeface="Roboto Light"/>
              </a:defRPr>
            </a:pPr>
            <a:r>
              <a:t>• Pendaftaran &amp; manajemen garasi sportcar</a:t>
            </a:r>
            <a:br/>
            <a:r>
              <a:t>• Pemilihan layanan cuci pH-netral &amp; detailing</a:t>
            </a:r>
            <a:br/>
            <a:r>
              <a:t>• Live queue tracking (FIFO) via WebSocket tanpa perlu me-reload halaman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7359" y="2300000"/>
            <a:ext cx="3496877" cy="2900000"/>
          </a:xfrm>
          <a:prstGeom prst="roundRect">
            <a:avLst/>
          </a:prstGeom>
          <a:solidFill>
            <a:srgbClr val="1F2024"/>
          </a:solidFill>
          <a:ln w="12700">
            <a:solidFill>
              <a:srgbClr val="3E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C5A880"/>
                </a:solidFill>
                <a:latin typeface="Roboto Light"/>
              </a:defRPr>
            </a:pPr>
            <a:r>
              <a:t>DEMO 02</a:t>
            </a:r>
          </a:p>
          <a:p>
            <a:pPr>
              <a:spcBef>
                <a:spcPts val="600"/>
              </a:spcBef>
              <a:defRPr sz="1600" b="1">
                <a:solidFill>
                  <a:srgbClr val="F2F2F3"/>
                </a:solidFill>
                <a:latin typeface="Poppins Light"/>
              </a:defRPr>
            </a:pPr>
            <a:r>
              <a:t>Admin Command Center</a:t>
            </a:r>
          </a:p>
          <a:p>
            <a:pPr>
              <a:spcBef>
                <a:spcPts val="1200"/>
              </a:spcBef>
              <a:defRPr sz="1150">
                <a:solidFill>
                  <a:srgbClr val="CBCDD4"/>
                </a:solidFill>
                <a:latin typeface="Roboto Light"/>
              </a:defRPr>
            </a:pPr>
            <a:r>
              <a:t>• Manajemen antrean terpusat di dashboard desktop</a:t>
            </a:r>
            <a:br/>
            <a:r>
              <a:t>• Penugasan staf teknisi bersertifikasi</a:t>
            </a:r>
            <a:br/>
            <a:r>
              <a:t>• Pembaruan status (Waiting ➔ In Progress ➔ Completed) sinkron seketika ke smartphone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3244" y="2300000"/>
            <a:ext cx="3496877" cy="2900000"/>
          </a:xfrm>
          <a:prstGeom prst="roundRect">
            <a:avLst/>
          </a:prstGeom>
          <a:solidFill>
            <a:srgbClr val="1F2024"/>
          </a:solidFill>
          <a:ln w="12700">
            <a:solidFill>
              <a:srgbClr val="3E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C5A880"/>
                </a:solidFill>
                <a:latin typeface="Roboto Light"/>
              </a:defRPr>
            </a:pPr>
            <a:r>
              <a:t>DEMO 03</a:t>
            </a:r>
          </a:p>
          <a:p>
            <a:pPr>
              <a:spcBef>
                <a:spcPts val="600"/>
              </a:spcBef>
              <a:defRPr sz="1600" b="1">
                <a:solidFill>
                  <a:srgbClr val="F2F2F3"/>
                </a:solidFill>
                <a:latin typeface="Poppins Light"/>
              </a:defRPr>
            </a:pPr>
            <a:r>
              <a:t>Smart Payment &amp; Invoice</a:t>
            </a:r>
          </a:p>
          <a:p>
            <a:pPr>
              <a:spcBef>
                <a:spcPts val="1200"/>
              </a:spcBef>
              <a:defRPr sz="1150">
                <a:solidFill>
                  <a:srgbClr val="CBCDD4"/>
                </a:solidFill>
                <a:latin typeface="Roboto Light"/>
              </a:defRPr>
            </a:pPr>
            <a:r>
              <a:t>• Notifikasi selesai &amp; integrasi Midtrans Snap</a:t>
            </a:r>
            <a:br/>
            <a:r>
              <a:t>• Pembayaran instan via QRIS otomatis &amp; tunai</a:t>
            </a:r>
            <a:br/>
            <a:r>
              <a:t>• Verifikasi webhook settlement &amp; cetak invoice digital resmi (INV-YYYYMMDD-ID)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1475" y="577850"/>
            <a:ext cx="2400000" cy="264616"/>
          </a:xfrm>
          <a:prstGeom prst="roundRect">
            <a:avLst/>
          </a:prstGeom>
          <a:solidFill>
            <a:srgbClr val="28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5950" y="62000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5E0DF"/>
                </a:solidFill>
                <a:latin typeface="Roboto Light"/>
              </a:defRPr>
            </a:pPr>
            <a:r>
              <a:t>09 • PENUTUP &amp; DISKUSI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1475" y="917377"/>
            <a:ext cx="1086874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F2F2F3"/>
                </a:solidFill>
                <a:latin typeface="Poppins Light"/>
              </a:defRPr>
            </a:pPr>
            <a:r>
              <a:t>Masa Depan Perawatan Mobil Sport Dimulai di Sini.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475" y="1780000"/>
            <a:ext cx="1147833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5E0DF"/>
                </a:solidFill>
                <a:latin typeface="Roboto Light"/>
              </a:defRPr>
            </a:pPr>
            <a:r>
              <a:t>Terima kasih atas perhatian Anda. Mari berdiskusi untuk implementasi dan kemitraan bengkel premium.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1475" y="2300000"/>
            <a:ext cx="5250000" cy="2950000"/>
          </a:xfrm>
          <a:prstGeom prst="roundRect">
            <a:avLst/>
          </a:prstGeom>
          <a:solidFill>
            <a:srgbClr val="1F2024"/>
          </a:solidFill>
          <a:ln w="12700">
            <a:solidFill>
              <a:srgbClr val="3E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92608"/>
          <a:lstStyle/>
          <a:p>
            <a:pPr algn="ctr">
              <a:defRPr sz="1050" b="1">
                <a:solidFill>
                  <a:srgbClr val="C5A880"/>
                </a:solidFill>
                <a:latin typeface="Roboto Light"/>
              </a:defRPr>
            </a:pPr>
            <a:r>
              <a:t>SESI DISKUSI</a:t>
            </a:r>
          </a:p>
          <a:p>
            <a:pPr>
              <a:spcBef>
                <a:spcPts val="600"/>
              </a:spcBef>
              <a:defRPr sz="1800" b="1">
                <a:solidFill>
                  <a:srgbClr val="F2F2F3"/>
                </a:solidFill>
                <a:latin typeface="Poppins Light"/>
              </a:defRPr>
            </a:pPr>
            <a:r>
              <a:t>Tanya Jawab &amp; Kemitraan</a:t>
            </a:r>
          </a:p>
          <a:p>
            <a:pPr>
              <a:spcBef>
                <a:spcPts val="1400"/>
              </a:spcBef>
              <a:defRPr sz="1200">
                <a:solidFill>
                  <a:srgbClr val="CBCDD4"/>
                </a:solidFill>
                <a:latin typeface="Roboto Light"/>
              </a:defRPr>
            </a:pPr>
            <a:r>
              <a:t>• Pembahasan kustomisasi alur servis dan tarif bengkel Anda</a:t>
            </a:r>
            <a:br/>
            <a:r>
              <a:t>• Integrasi printer kasir &amp; EDC pembayaran</a:t>
            </a:r>
            <a:br/>
            <a:r>
              <a:t>• Konsultasi implementasi sistem multi-cabang</a:t>
            </a:r>
            <a:br/>
            <a:r>
              <a:t>• Penjadwalan implementasi dan uji coba langsung di workshop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5000" y="2300000"/>
            <a:ext cx="5250000" cy="2950000"/>
          </a:xfrm>
          <a:prstGeom prst="roundRect">
            <a:avLst/>
          </a:prstGeom>
          <a:solidFill>
            <a:srgbClr val="1F2024"/>
          </a:solidFill>
          <a:ln w="12700">
            <a:solidFill>
              <a:srgbClr val="3E4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92608"/>
          <a:lstStyle/>
          <a:p>
            <a:pPr algn="ctr">
              <a:defRPr sz="1050" b="1">
                <a:solidFill>
                  <a:srgbClr val="C5A880"/>
                </a:solidFill>
                <a:latin typeface="Roboto Light"/>
              </a:defRPr>
            </a:pPr>
            <a:r>
              <a:t>PROFIL PENGEMBANG</a:t>
            </a:r>
          </a:p>
          <a:p>
            <a:pPr>
              <a:spcBef>
                <a:spcPts val="600"/>
              </a:spcBef>
              <a:defRPr sz="1800" b="1">
                <a:solidFill>
                  <a:srgbClr val="F2F2F3"/>
                </a:solidFill>
                <a:latin typeface="Poppins Light"/>
              </a:defRPr>
            </a:pPr>
            <a:r>
              <a:t>Wisnu Tri</a:t>
            </a:r>
          </a:p>
          <a:p>
            <a:pPr>
              <a:spcBef>
                <a:spcPts val="1400"/>
              </a:spcBef>
              <a:defRPr sz="1200">
                <a:solidFill>
                  <a:srgbClr val="CBCDD4"/>
                </a:solidFill>
                <a:latin typeface="Roboto Light"/>
              </a:defRPr>
            </a:pPr>
            <a:r>
              <a:t>• Role: Fullstack Application Developer</a:t>
            </a:r>
            <a:br/>
            <a:r>
              <a:t>• Platform: APEX Carwash Management Platform</a:t>
            </a:r>
            <a:br/>
            <a:r>
              <a:t>• Arsitektur: Dual-Role Portal (Customer Self &amp; Admin Cashier)</a:t>
            </a:r>
            <a:br/>
            <a:r>
              <a:t>• Tech Stack: React 19, Node.js TypeScript, PostgreSQL, Socket.IO, Midtrans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1475" y="5600000"/>
            <a:ext cx="25399" cy="5000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1641" y="5650000"/>
            <a:ext cx="10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5E0DF"/>
                </a:solidFill>
                <a:latin typeface="Roboto Light"/>
              </a:defRPr>
            </a:pPr>
            <a:r>
              <a:t>APEX Carwash Platform • Elevating Luxury Automotive Care Through Seamless Digital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2026-09-04T03:06:06Z</dcterms:created>
  <dcterms:modified xsi:type="dcterms:W3CDTF">2026-09-04T03:06:06Z</dcterms:modified>
</cp:coreProperties>
</file>